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92906"/>
            <a:ext cx="4843463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47954"/>
                </a:solidFill>
              </a:rPr>
              <a:t>Student Performance Dashboard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973070"/>
            <a:ext cx="48434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1A1A1A"/>
                </a:solidFill>
              </a:rPr>
              <a:t>Interactive Analytics for Educational Insights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2514209"/>
            <a:ext cx="4843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Group 4 (DEPI Data Project)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28625" y="2766027"/>
            <a:ext cx="4843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November 2025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3132144"/>
            <a:ext cx="4843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Team Members: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428625" y="3469686"/>
            <a:ext cx="48434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Abdulrahman Mustafa (Team Leader)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3655423"/>
            <a:ext cx="48434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Malak Samir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3841161"/>
            <a:ext cx="48434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Eman Wassem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8625" y="4026898"/>
            <a:ext cx="48434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Khaled Ehab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8625" y="4212636"/>
            <a:ext cx="48434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Ahmed Mohamed Galal Shoeib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681" y="392906"/>
            <a:ext cx="3300413" cy="17873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92906"/>
            <a:ext cx="8286750" cy="405408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47954"/>
                </a:solidFill>
              </a:rPr>
              <a:t>Problem Statement: Bridging the Data-to-Insight Gap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034951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381" y="1012627"/>
            <a:ext cx="14554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The Challenge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714375" y="1543050"/>
            <a:ext cx="3714750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Educational institutions collect massive amounts of data.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14375" y="2107406"/>
            <a:ext cx="3714750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Teachers and admins struggle to find actionable insights in raw spreadsheets.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14375" y="2671763"/>
            <a:ext cx="3714750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Identifying "at-risk" students happens too late, hindering timely intervention.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034951"/>
            <a:ext cx="17145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93481" y="1012627"/>
            <a:ext cx="128777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The Solution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5000625" y="1543050"/>
            <a:ext cx="3714750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 centralized, interactive dashboard built on Streamlit.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000625" y="2107406"/>
            <a:ext cx="3714750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Real-time visualization of grades, attendance, and performance trends.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214938" y="2687836"/>
            <a:ext cx="190411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UVP: Early warning system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5214938" y="2687836"/>
            <a:ext cx="3357563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for students needing support, driven by a high-performance data stack.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92906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47954"/>
                </a:solidFill>
              </a:rPr>
              <a:t>Core Project Objectives: Setting the Performance Benchmark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991195"/>
            <a:ext cx="4000500" cy="179040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991195"/>
            <a:ext cx="57150" cy="1790402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91679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938" y="1800671"/>
            <a:ext cx="35718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1. Scalability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642938" y="2145357"/>
            <a:ext cx="35718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Process and analyze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1 Million+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student records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efficiently.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714875" y="991195"/>
            <a:ext cx="4000500" cy="179040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6"/>
          <p:cNvSpPr/>
          <p:nvPr/>
        </p:nvSpPr>
        <p:spPr>
          <a:xfrm>
            <a:off x="4714875" y="991195"/>
            <a:ext cx="57150" cy="1790402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291679"/>
            <a:ext cx="385763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29188" y="1800671"/>
            <a:ext cx="35718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2. Performance</a:t>
            </a:r>
            <a:endParaRPr lang="en-US" sz="1397" dirty="0"/>
          </a:p>
        </p:txBody>
      </p:sp>
      <p:sp>
        <p:nvSpPr>
          <p:cNvPr id="13" name="Text 8"/>
          <p:cNvSpPr/>
          <p:nvPr/>
        </p:nvSpPr>
        <p:spPr>
          <a:xfrm>
            <a:off x="4929188" y="2145357"/>
            <a:ext cx="35718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Deliver insights in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&lt; 5 seconds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using high-speed, in-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memory analytics.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28625" y="3067348"/>
            <a:ext cx="4000500" cy="179040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Shape 10"/>
          <p:cNvSpPr/>
          <p:nvPr/>
        </p:nvSpPr>
        <p:spPr>
          <a:xfrm>
            <a:off x="428625" y="3067348"/>
            <a:ext cx="57150" cy="1790402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367832"/>
            <a:ext cx="428625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2938" y="3876824"/>
            <a:ext cx="35718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3. Usability</a:t>
            </a:r>
            <a:endParaRPr lang="en-US" sz="1397" dirty="0"/>
          </a:p>
        </p:txBody>
      </p:sp>
      <p:sp>
        <p:nvSpPr>
          <p:cNvPr id="18" name="Text 12"/>
          <p:cNvSpPr/>
          <p:nvPr/>
        </p:nvSpPr>
        <p:spPr>
          <a:xfrm>
            <a:off x="642938" y="4221510"/>
            <a:ext cx="35718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Create an intuitive interface for non-technical users, primarily teachers and administrators.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714875" y="3067348"/>
            <a:ext cx="4000500" cy="179040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Shape 14"/>
          <p:cNvSpPr/>
          <p:nvPr/>
        </p:nvSpPr>
        <p:spPr>
          <a:xfrm>
            <a:off x="4714875" y="3067348"/>
            <a:ext cx="57150" cy="1790402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3367832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29188" y="3876824"/>
            <a:ext cx="35718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4. Accessibility</a:t>
            </a:r>
            <a:endParaRPr lang="en-US" sz="1397" dirty="0"/>
          </a:p>
        </p:txBody>
      </p:sp>
      <p:sp>
        <p:nvSpPr>
          <p:cNvPr id="23" name="Text 16"/>
          <p:cNvSpPr/>
          <p:nvPr/>
        </p:nvSpPr>
        <p:spPr>
          <a:xfrm>
            <a:off x="4929188" y="4221510"/>
            <a:ext cx="35718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Ensure data is accessible via a robust, web-based platform (Streamlit Cloud).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92906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47954"/>
                </a:solidFill>
              </a:rPr>
              <a:t>Architecture &amp; Tech Stack: Building for Scale and Speed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19758"/>
            <a:ext cx="8286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Data Workflow Pipeline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28625" y="1384102"/>
            <a:ext cx="1371600" cy="38933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384102"/>
            <a:ext cx="42863" cy="389334"/>
          </a:xfrm>
          <a:prstGeom prst="rect">
            <a:avLst/>
          </a:prstGeom>
          <a:solidFill>
            <a:srgbClr val="336EA8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384102"/>
            <a:ext cx="1371600" cy="38933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Raw Data (CSV)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1837367" y="1461790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47954"/>
                </a:solidFill>
              </a:rPr>
              <a:t>➡️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2123117" y="1296591"/>
            <a:ext cx="1380167" cy="56435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2123117" y="1296591"/>
            <a:ext cx="42863" cy="564356"/>
          </a:xfrm>
          <a:prstGeom prst="rect">
            <a:avLst/>
          </a:prstGeom>
          <a:solidFill>
            <a:srgbClr val="336EA8"/>
          </a:solidFill>
          <a:ln/>
        </p:spPr>
      </p:sp>
      <p:sp>
        <p:nvSpPr>
          <p:cNvPr id="11" name="Text 8"/>
          <p:cNvSpPr/>
          <p:nvPr/>
        </p:nvSpPr>
        <p:spPr>
          <a:xfrm>
            <a:off x="2123117" y="1296591"/>
            <a:ext cx="1380167" cy="5643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ETL Pipeline (Pandas)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3548993" y="1461790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47954"/>
                </a:solidFill>
              </a:rPr>
              <a:t>➡️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3834743" y="1384102"/>
            <a:ext cx="1388734" cy="38933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3834743" y="1384102"/>
            <a:ext cx="42863" cy="389334"/>
          </a:xfrm>
          <a:prstGeom prst="rect">
            <a:avLst/>
          </a:prstGeom>
          <a:solidFill>
            <a:srgbClr val="336EA8"/>
          </a:solidFill>
          <a:ln/>
        </p:spPr>
      </p:sp>
      <p:sp>
        <p:nvSpPr>
          <p:cNvPr id="15" name="Text 12"/>
          <p:cNvSpPr/>
          <p:nvPr/>
        </p:nvSpPr>
        <p:spPr>
          <a:xfrm>
            <a:off x="3834743" y="1384102"/>
            <a:ext cx="1388734" cy="38933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Parquet Storage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277836" y="1461790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47954"/>
                </a:solidFill>
              </a:rPr>
              <a:t>➡️</a:t>
            </a:r>
            <a:endParaRPr lang="en-US" sz="1193" dirty="0"/>
          </a:p>
        </p:txBody>
      </p:sp>
      <p:sp>
        <p:nvSpPr>
          <p:cNvPr id="17" name="Shape 14"/>
          <p:cNvSpPr/>
          <p:nvPr/>
        </p:nvSpPr>
        <p:spPr>
          <a:xfrm>
            <a:off x="5563586" y="1296591"/>
            <a:ext cx="1397329" cy="56435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Shape 15"/>
          <p:cNvSpPr/>
          <p:nvPr/>
        </p:nvSpPr>
        <p:spPr>
          <a:xfrm>
            <a:off x="5563586" y="1296591"/>
            <a:ext cx="42863" cy="564356"/>
          </a:xfrm>
          <a:prstGeom prst="rect">
            <a:avLst/>
          </a:prstGeom>
          <a:solidFill>
            <a:srgbClr val="336EA8"/>
          </a:solidFill>
          <a:ln/>
        </p:spPr>
      </p:sp>
      <p:sp>
        <p:nvSpPr>
          <p:cNvPr id="19" name="Text 16"/>
          <p:cNvSpPr/>
          <p:nvPr/>
        </p:nvSpPr>
        <p:spPr>
          <a:xfrm>
            <a:off x="5563586" y="1296591"/>
            <a:ext cx="1397329" cy="5643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DuckDB (Star Schema)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7023757" y="1461790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47954"/>
                </a:solidFill>
              </a:rPr>
              <a:t>➡️</a:t>
            </a:r>
            <a:endParaRPr lang="en-US" sz="1193" dirty="0"/>
          </a:p>
        </p:txBody>
      </p:sp>
      <p:sp>
        <p:nvSpPr>
          <p:cNvPr id="21" name="Shape 18"/>
          <p:cNvSpPr/>
          <p:nvPr/>
        </p:nvSpPr>
        <p:spPr>
          <a:xfrm>
            <a:off x="7309507" y="1296591"/>
            <a:ext cx="1405896" cy="56435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Shape 19"/>
          <p:cNvSpPr/>
          <p:nvPr/>
        </p:nvSpPr>
        <p:spPr>
          <a:xfrm>
            <a:off x="7309507" y="1296591"/>
            <a:ext cx="42863" cy="564356"/>
          </a:xfrm>
          <a:prstGeom prst="rect">
            <a:avLst/>
          </a:prstGeom>
          <a:solidFill>
            <a:srgbClr val="336EA8"/>
          </a:solidFill>
          <a:ln/>
        </p:spPr>
      </p:sp>
      <p:sp>
        <p:nvSpPr>
          <p:cNvPr id="23" name="Text 20"/>
          <p:cNvSpPr/>
          <p:nvPr/>
        </p:nvSpPr>
        <p:spPr>
          <a:xfrm>
            <a:off x="7309507" y="1296591"/>
            <a:ext cx="1405896" cy="5643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Streamlit Dashboard</a:t>
            </a:r>
            <a:endParaRPr lang="en-US" sz="885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382441"/>
            <a:ext cx="214313" cy="17145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8663" y="2361009"/>
            <a:ext cx="22719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Core Languages &amp; Databases</a:t>
            </a:r>
            <a:endParaRPr lang="en-US" sz="1090" dirty="0"/>
          </a:p>
        </p:txBody>
      </p:sp>
      <p:sp>
        <p:nvSpPr>
          <p:cNvPr id="26" name="Text 22"/>
          <p:cNvSpPr/>
          <p:nvPr/>
        </p:nvSpPr>
        <p:spPr>
          <a:xfrm>
            <a:off x="885825" y="2661047"/>
            <a:ext cx="4582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Python</a:t>
            </a:r>
            <a:endParaRPr lang="en-US" sz="885" dirty="0"/>
          </a:p>
        </p:txBody>
      </p:sp>
      <p:sp>
        <p:nvSpPr>
          <p:cNvPr id="27" name="Text 23"/>
          <p:cNvSpPr/>
          <p:nvPr/>
        </p:nvSpPr>
        <p:spPr>
          <a:xfrm>
            <a:off x="1344113" y="2661047"/>
            <a:ext cx="15226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– Core logic and scripting</a:t>
            </a:r>
            <a:endParaRPr lang="en-US" sz="942" dirty="0"/>
          </a:p>
        </p:txBody>
      </p:sp>
      <p:sp>
        <p:nvSpPr>
          <p:cNvPr id="28" name="Text 24"/>
          <p:cNvSpPr/>
          <p:nvPr/>
        </p:nvSpPr>
        <p:spPr>
          <a:xfrm>
            <a:off x="3181062" y="2661047"/>
            <a:ext cx="5070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DuckDB</a:t>
            </a:r>
            <a:endParaRPr lang="en-US" sz="885" dirty="0"/>
          </a:p>
        </p:txBody>
      </p:sp>
      <p:sp>
        <p:nvSpPr>
          <p:cNvPr id="29" name="Text 25"/>
          <p:cNvSpPr/>
          <p:nvPr/>
        </p:nvSpPr>
        <p:spPr>
          <a:xfrm>
            <a:off x="3688100" y="2661047"/>
            <a:ext cx="21808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– High-performance in-memory SQL</a:t>
            </a:r>
            <a:endParaRPr lang="en-US" sz="942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3000375"/>
            <a:ext cx="171450" cy="17145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85800" y="2978944"/>
            <a:ext cx="15724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Frameworks &amp; Tools</a:t>
            </a:r>
            <a:endParaRPr lang="en-US" sz="1090" dirty="0"/>
          </a:p>
        </p:txBody>
      </p:sp>
      <p:sp>
        <p:nvSpPr>
          <p:cNvPr id="32" name="Text 27"/>
          <p:cNvSpPr/>
          <p:nvPr/>
        </p:nvSpPr>
        <p:spPr>
          <a:xfrm>
            <a:off x="885825" y="3278981"/>
            <a:ext cx="5966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Streamlit</a:t>
            </a:r>
            <a:endParaRPr lang="en-US" sz="885" dirty="0"/>
          </a:p>
        </p:txBody>
      </p:sp>
      <p:sp>
        <p:nvSpPr>
          <p:cNvPr id="33" name="Text 28"/>
          <p:cNvSpPr/>
          <p:nvPr/>
        </p:nvSpPr>
        <p:spPr>
          <a:xfrm>
            <a:off x="1482496" y="3278981"/>
            <a:ext cx="17284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– Interactive web application</a:t>
            </a:r>
            <a:endParaRPr lang="en-US" sz="942" dirty="0"/>
          </a:p>
        </p:txBody>
      </p:sp>
      <p:sp>
        <p:nvSpPr>
          <p:cNvPr id="34" name="Text 29"/>
          <p:cNvSpPr/>
          <p:nvPr/>
        </p:nvSpPr>
        <p:spPr>
          <a:xfrm>
            <a:off x="3525301" y="3278981"/>
            <a:ext cx="3677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Plotly</a:t>
            </a:r>
            <a:endParaRPr lang="en-US" sz="885" dirty="0"/>
          </a:p>
        </p:txBody>
      </p:sp>
      <p:sp>
        <p:nvSpPr>
          <p:cNvPr id="35" name="Text 30"/>
          <p:cNvSpPr/>
          <p:nvPr/>
        </p:nvSpPr>
        <p:spPr>
          <a:xfrm>
            <a:off x="3893065" y="3278981"/>
            <a:ext cx="19627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– Dynamic and interactive charts</a:t>
            </a:r>
            <a:endParaRPr lang="en-US" sz="942" dirty="0"/>
          </a:p>
        </p:txBody>
      </p:sp>
      <p:sp>
        <p:nvSpPr>
          <p:cNvPr id="36" name="Text 31"/>
          <p:cNvSpPr/>
          <p:nvPr/>
        </p:nvSpPr>
        <p:spPr>
          <a:xfrm>
            <a:off x="6170163" y="3278981"/>
            <a:ext cx="4658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Pandas</a:t>
            </a:r>
            <a:endParaRPr lang="en-US" sz="885" dirty="0"/>
          </a:p>
        </p:txBody>
      </p:sp>
      <p:sp>
        <p:nvSpPr>
          <p:cNvPr id="37" name="Text 32"/>
          <p:cNvSpPr/>
          <p:nvPr/>
        </p:nvSpPr>
        <p:spPr>
          <a:xfrm>
            <a:off x="6636041" y="3278981"/>
            <a:ext cx="15137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– ETL pipeline processing</a:t>
            </a:r>
            <a:endParaRPr lang="en-US" sz="942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618309"/>
            <a:ext cx="171450" cy="17145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85800" y="3596878"/>
            <a:ext cx="17566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DevOps &amp; Deployment</a:t>
            </a:r>
            <a:endParaRPr lang="en-US" sz="1090" dirty="0"/>
          </a:p>
        </p:txBody>
      </p:sp>
      <p:sp>
        <p:nvSpPr>
          <p:cNvPr id="40" name="Text 34"/>
          <p:cNvSpPr/>
          <p:nvPr/>
        </p:nvSpPr>
        <p:spPr>
          <a:xfrm>
            <a:off x="885825" y="3896916"/>
            <a:ext cx="9636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GitHub Actions</a:t>
            </a:r>
            <a:endParaRPr lang="en-US" sz="885" dirty="0"/>
          </a:p>
        </p:txBody>
      </p:sp>
      <p:sp>
        <p:nvSpPr>
          <p:cNvPr id="41" name="Text 35"/>
          <p:cNvSpPr/>
          <p:nvPr/>
        </p:nvSpPr>
        <p:spPr>
          <a:xfrm>
            <a:off x="1849478" y="3896916"/>
            <a:ext cx="21105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– CI/CD for automated deployment</a:t>
            </a:r>
            <a:endParaRPr lang="en-US" sz="942" dirty="0"/>
          </a:p>
        </p:txBody>
      </p:sp>
      <p:sp>
        <p:nvSpPr>
          <p:cNvPr id="42" name="Text 36"/>
          <p:cNvSpPr/>
          <p:nvPr/>
        </p:nvSpPr>
        <p:spPr>
          <a:xfrm>
            <a:off x="4274334" y="3896916"/>
            <a:ext cx="9966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Streamlit Cloud</a:t>
            </a:r>
            <a:endParaRPr lang="en-US" sz="885" dirty="0"/>
          </a:p>
        </p:txBody>
      </p:sp>
      <p:sp>
        <p:nvSpPr>
          <p:cNvPr id="43" name="Text 37"/>
          <p:cNvSpPr/>
          <p:nvPr/>
        </p:nvSpPr>
        <p:spPr>
          <a:xfrm>
            <a:off x="5271027" y="3896916"/>
            <a:ext cx="18222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– Web-based hosting platform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35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92906"/>
            <a:ext cx="8286750" cy="405408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47954"/>
                </a:solidFill>
              </a:rPr>
              <a:t>Data Pipeline: From Raw Data to Analytics-Ready Storage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012627"/>
            <a:ext cx="8286750" cy="113764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012627"/>
            <a:ext cx="57150" cy="1137642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82303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7281" y="1191220"/>
            <a:ext cx="739378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</a:rPr>
              <a:t>1. Extraction</a:t>
            </a:r>
            <a:endParaRPr lang="en-US" sz="1295" dirty="0"/>
          </a:p>
        </p:txBody>
      </p:sp>
      <p:sp>
        <p:nvSpPr>
          <p:cNvPr id="8" name="Text 4"/>
          <p:cNvSpPr/>
          <p:nvPr/>
        </p:nvSpPr>
        <p:spPr>
          <a:xfrm>
            <a:off x="1107281" y="1528763"/>
            <a:ext cx="73937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Combined real IPEDS institutional data with synthetic student records.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1107281" y="1778794"/>
            <a:ext cx="73937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Total Volume: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1,000,000 Students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428625" y="2328863"/>
            <a:ext cx="8286750" cy="131266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Shape 7"/>
          <p:cNvSpPr/>
          <p:nvPr/>
        </p:nvSpPr>
        <p:spPr>
          <a:xfrm>
            <a:off x="428625" y="2328863"/>
            <a:ext cx="57150" cy="1312664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598539"/>
            <a:ext cx="285750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7281" y="2507456"/>
            <a:ext cx="739378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</a:rPr>
              <a:t>2. Transformation</a:t>
            </a:r>
            <a:endParaRPr lang="en-US" sz="1295" dirty="0"/>
          </a:p>
        </p:txBody>
      </p:sp>
      <p:sp>
        <p:nvSpPr>
          <p:cNvPr id="14" name="Text 9"/>
          <p:cNvSpPr/>
          <p:nvPr/>
        </p:nvSpPr>
        <p:spPr>
          <a:xfrm>
            <a:off x="1107281" y="2844998"/>
            <a:ext cx="73937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Cleaned missing values and standardized formats. Modeled into a Star Schema:</a:t>
            </a:r>
            <a:endParaRPr lang="en-US" sz="942" dirty="0"/>
          </a:p>
        </p:txBody>
      </p:sp>
      <p:sp>
        <p:nvSpPr>
          <p:cNvPr id="15" name="Text 10"/>
          <p:cNvSpPr/>
          <p:nvPr/>
        </p:nvSpPr>
        <p:spPr>
          <a:xfrm>
            <a:off x="1250156" y="3095030"/>
            <a:ext cx="72509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Fact Table: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 Student Performance</a:t>
            </a:r>
            <a:endParaRPr lang="en-US" sz="784" dirty="0"/>
          </a:p>
        </p:txBody>
      </p:sp>
      <p:sp>
        <p:nvSpPr>
          <p:cNvPr id="16" name="Text 11"/>
          <p:cNvSpPr/>
          <p:nvPr/>
        </p:nvSpPr>
        <p:spPr>
          <a:xfrm>
            <a:off x="1250156" y="3307556"/>
            <a:ext cx="72509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Dimensions: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 Student, University, Course, Date</a:t>
            </a:r>
            <a:endParaRPr lang="en-US" sz="784" dirty="0"/>
          </a:p>
        </p:txBody>
      </p:sp>
      <p:sp>
        <p:nvSpPr>
          <p:cNvPr id="17" name="Shape 12"/>
          <p:cNvSpPr/>
          <p:nvPr/>
        </p:nvSpPr>
        <p:spPr>
          <a:xfrm>
            <a:off x="428625" y="3820120"/>
            <a:ext cx="8286750" cy="113764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Shape 13"/>
          <p:cNvSpPr/>
          <p:nvPr/>
        </p:nvSpPr>
        <p:spPr>
          <a:xfrm>
            <a:off x="428625" y="3820120"/>
            <a:ext cx="57150" cy="1137642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4089797"/>
            <a:ext cx="250031" cy="285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1563" y="3998714"/>
            <a:ext cx="742950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</a:rPr>
              <a:t>3. Loading</a:t>
            </a:r>
            <a:endParaRPr lang="en-US" sz="1295" dirty="0"/>
          </a:p>
        </p:txBody>
      </p:sp>
      <p:sp>
        <p:nvSpPr>
          <p:cNvPr id="21" name="Text 15"/>
          <p:cNvSpPr/>
          <p:nvPr/>
        </p:nvSpPr>
        <p:spPr>
          <a:xfrm>
            <a:off x="1071563" y="4336256"/>
            <a:ext cx="7429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Saved as optimized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Parquet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files for efficient storage and querying.</a:t>
            </a:r>
            <a:endParaRPr lang="en-US" sz="942" dirty="0"/>
          </a:p>
        </p:txBody>
      </p:sp>
      <p:sp>
        <p:nvSpPr>
          <p:cNvPr id="22" name="Text 16"/>
          <p:cNvSpPr/>
          <p:nvPr/>
        </p:nvSpPr>
        <p:spPr>
          <a:xfrm>
            <a:off x="1071563" y="4586288"/>
            <a:ext cx="7429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Size Reduction: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90% smaller than CSV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21469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47954"/>
                </a:solidFill>
              </a:rPr>
              <a:t>Key Features - Overview Dashboard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43" y="776883"/>
            <a:ext cx="4747887" cy="254317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3797991"/>
            <a:ext cx="228600" cy="2286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28625" y="4137320"/>
            <a:ext cx="26193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KPIs at a Glance</a:t>
            </a:r>
            <a:endParaRPr lang="en-US" sz="987" dirty="0"/>
          </a:p>
        </p:txBody>
      </p:sp>
      <p:sp>
        <p:nvSpPr>
          <p:cNvPr id="7" name="Text 2"/>
          <p:cNvSpPr/>
          <p:nvPr/>
        </p:nvSpPr>
        <p:spPr>
          <a:xfrm>
            <a:off x="428625" y="4389137"/>
            <a:ext cx="26193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Instant view of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Average Score (84.4)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Attendance Rate (89.7%)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, and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Pass Rate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(98.6%)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.</a:t>
            </a:r>
            <a:endParaRPr lang="en-US" sz="942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294" y="3797991"/>
            <a:ext cx="228600" cy="228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262294" y="4137320"/>
            <a:ext cx="261938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Distribution Analysis</a:t>
            </a:r>
            <a:endParaRPr lang="en-US" sz="987" dirty="0"/>
          </a:p>
        </p:txBody>
      </p:sp>
      <p:sp>
        <p:nvSpPr>
          <p:cNvPr id="10" name="Text 4"/>
          <p:cNvSpPr/>
          <p:nvPr/>
        </p:nvSpPr>
        <p:spPr>
          <a:xfrm>
            <a:off x="3262294" y="4389137"/>
            <a:ext cx="2619384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Histograms showing the spread of grades across the entire student cohort for deeper insights.</a:t>
            </a:r>
            <a:endParaRPr lang="en-US" sz="942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1" y="3797991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095991" y="4137320"/>
            <a:ext cx="26193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Smart Filtering</a:t>
            </a:r>
            <a:endParaRPr lang="en-US" sz="987" dirty="0"/>
          </a:p>
        </p:txBody>
      </p:sp>
      <p:sp>
        <p:nvSpPr>
          <p:cNvPr id="13" name="Text 6"/>
          <p:cNvSpPr/>
          <p:nvPr/>
        </p:nvSpPr>
        <p:spPr>
          <a:xfrm>
            <a:off x="6095991" y="4389137"/>
            <a:ext cx="26193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Slice data instantly by Year, Major, or Subject to focus on specific student populations.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4" y="392906"/>
            <a:ext cx="2786063" cy="151400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420588"/>
            <a:ext cx="257175" cy="2571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79206" y="392906"/>
            <a:ext cx="147814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47954"/>
                </a:solidFill>
              </a:rPr>
              <a:t>Risk Analysis</a:t>
            </a:r>
            <a:endParaRPr lang="en-US" sz="1602" dirty="0"/>
          </a:p>
        </p:txBody>
      </p:sp>
      <p:sp>
        <p:nvSpPr>
          <p:cNvPr id="6" name="Text 1"/>
          <p:cNvSpPr/>
          <p:nvPr/>
        </p:nvSpPr>
        <p:spPr>
          <a:xfrm>
            <a:off x="4929188" y="898327"/>
            <a:ext cx="14756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Correlation Analysis:</a:t>
            </a:r>
            <a:endParaRPr lang="en-US" sz="987" dirty="0"/>
          </a:p>
        </p:txBody>
      </p:sp>
      <p:sp>
        <p:nvSpPr>
          <p:cNvPr id="7" name="Text 2"/>
          <p:cNvSpPr/>
          <p:nvPr/>
        </p:nvSpPr>
        <p:spPr>
          <a:xfrm>
            <a:off x="4929188" y="898327"/>
            <a:ext cx="3618923" cy="435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Scatter plot showing the strong link between Attendance and Scores.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4929188" y="1529823"/>
            <a:ext cx="15583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At-Risk Identification:</a:t>
            </a:r>
            <a:endParaRPr lang="en-US" sz="987" dirty="0"/>
          </a:p>
        </p:txBody>
      </p:sp>
      <p:sp>
        <p:nvSpPr>
          <p:cNvPr id="9" name="Text 4"/>
          <p:cNvSpPr/>
          <p:nvPr/>
        </p:nvSpPr>
        <p:spPr>
          <a:xfrm>
            <a:off x="4929188" y="1529823"/>
            <a:ext cx="3492457" cy="435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Automatically flags students meeting risk criteria.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929188" y="2161319"/>
            <a:ext cx="14238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Actionable Insights: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4929188" y="2161319"/>
            <a:ext cx="3743911" cy="435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Teachers can download the at-risk list as CSV for immediate intervention.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714875" y="2849966"/>
            <a:ext cx="4000500" cy="79295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Shape 8"/>
          <p:cNvSpPr/>
          <p:nvPr/>
        </p:nvSpPr>
        <p:spPr>
          <a:xfrm>
            <a:off x="4714875" y="2849966"/>
            <a:ext cx="35719" cy="792956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4" name="Text 9"/>
          <p:cNvSpPr/>
          <p:nvPr/>
        </p:nvSpPr>
        <p:spPr>
          <a:xfrm>
            <a:off x="4714875" y="2849966"/>
            <a:ext cx="4000500" cy="7929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At-Risk Criteria: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 • Score &lt; 60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 • Attendance &lt; 70%</a:t>
            </a:r>
            <a:endParaRPr lang="en-US" sz="8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92906"/>
            <a:ext cx="3200400" cy="7179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47954"/>
                </a:solidFill>
              </a:rPr>
              <a:t>Student Profile: 360° Academic View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46597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1325166"/>
            <a:ext cx="14712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Individual Lookup</a:t>
            </a:r>
            <a:endParaRPr lang="en-US" sz="1090" dirty="0"/>
          </a:p>
        </p:txBody>
      </p:sp>
      <p:sp>
        <p:nvSpPr>
          <p:cNvPr id="6" name="Text 2"/>
          <p:cNvSpPr/>
          <p:nvPr/>
        </p:nvSpPr>
        <p:spPr>
          <a:xfrm>
            <a:off x="685800" y="1596628"/>
            <a:ext cx="2943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Search for any student by ID to access their complete academic record instantly.</a:t>
            </a:r>
            <a:endParaRPr lang="en-US" sz="94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146697"/>
            <a:ext cx="192881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7231" y="2125266"/>
            <a:ext cx="7806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360° View</a:t>
            </a:r>
            <a:endParaRPr lang="en-US" sz="1090" dirty="0"/>
          </a:p>
        </p:txBody>
      </p:sp>
      <p:sp>
        <p:nvSpPr>
          <p:cNvPr id="9" name="Text 4"/>
          <p:cNvSpPr/>
          <p:nvPr/>
        </p:nvSpPr>
        <p:spPr>
          <a:xfrm>
            <a:off x="685800" y="2396728"/>
            <a:ext cx="29432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See a student's full academic history, grade trends over time, and specific subject performance in one comprehensive dashboard.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139678"/>
            <a:ext cx="214313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8663" y="3118247"/>
            <a:ext cx="716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Use Case</a:t>
            </a:r>
            <a:endParaRPr lang="en-US" sz="1090" dirty="0"/>
          </a:p>
        </p:txBody>
      </p:sp>
      <p:sp>
        <p:nvSpPr>
          <p:cNvPr id="12" name="Text 6"/>
          <p:cNvSpPr/>
          <p:nvPr/>
        </p:nvSpPr>
        <p:spPr>
          <a:xfrm>
            <a:off x="685800" y="3389709"/>
            <a:ext cx="29432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Parent-teacher conferences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or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academic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advising sessions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made efficient and data-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driven.</a:t>
            </a:r>
            <a:endParaRPr lang="en-US" sz="885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9056" y="392906"/>
            <a:ext cx="4872038" cy="33575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92906"/>
            <a:ext cx="8286750" cy="405408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47954"/>
                </a:solidFill>
              </a:rPr>
              <a:t>Challenges &amp; Solutions: Engineering Resilience at Scale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32197" y="1016198"/>
            <a:ext cx="8279606" cy="478631"/>
          </a:xfrm>
          <a:prstGeom prst="rect">
            <a:avLst/>
          </a:prstGeom>
          <a:solidFill>
            <a:srgbClr val="047954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184077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8675" y="1157288"/>
            <a:ext cx="7711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Challenge</a:t>
            </a:r>
            <a:endParaRPr lang="en-US" sz="98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214" y="1184077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726526" y="1157288"/>
            <a:ext cx="6513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Solution</a:t>
            </a:r>
            <a:endParaRPr lang="en-US" sz="987" dirty="0"/>
          </a:p>
        </p:txBody>
      </p:sp>
      <p:sp>
        <p:nvSpPr>
          <p:cNvPr id="9" name="Shape 4"/>
          <p:cNvSpPr/>
          <p:nvPr/>
        </p:nvSpPr>
        <p:spPr>
          <a:xfrm>
            <a:off x="432197" y="1494830"/>
            <a:ext cx="8279606" cy="678656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1769864"/>
            <a:ext cx="112514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8314" y="1746647"/>
            <a:ext cx="12649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Big Data (1M Rows)</a:t>
            </a:r>
            <a:endParaRPr lang="en-US" sz="885" dirty="0"/>
          </a:p>
        </p:txBody>
      </p:sp>
      <p:sp>
        <p:nvSpPr>
          <p:cNvPr id="12" name="Text 6"/>
          <p:cNvSpPr/>
          <p:nvPr/>
        </p:nvSpPr>
        <p:spPr>
          <a:xfrm>
            <a:off x="3512214" y="1650206"/>
            <a:ext cx="3406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Used</a:t>
            </a:r>
            <a:endParaRPr lang="en-US" sz="942" dirty="0"/>
          </a:p>
        </p:txBody>
      </p:sp>
      <p:sp>
        <p:nvSpPr>
          <p:cNvPr id="13" name="Text 7"/>
          <p:cNvSpPr/>
          <p:nvPr/>
        </p:nvSpPr>
        <p:spPr>
          <a:xfrm>
            <a:off x="3852853" y="1650206"/>
            <a:ext cx="5070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47954"/>
                </a:solidFill>
              </a:rPr>
              <a:t>DuckDB</a:t>
            </a:r>
            <a:endParaRPr lang="en-US" sz="885" dirty="0"/>
          </a:p>
        </p:txBody>
      </p:sp>
      <p:sp>
        <p:nvSpPr>
          <p:cNvPr id="14" name="Text 8"/>
          <p:cNvSpPr/>
          <p:nvPr/>
        </p:nvSpPr>
        <p:spPr>
          <a:xfrm>
            <a:off x="4359892" y="1650206"/>
            <a:ext cx="2975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and</a:t>
            </a:r>
            <a:endParaRPr lang="en-US" sz="942" dirty="0"/>
          </a:p>
        </p:txBody>
      </p:sp>
      <p:sp>
        <p:nvSpPr>
          <p:cNvPr id="15" name="Text 9"/>
          <p:cNvSpPr/>
          <p:nvPr/>
        </p:nvSpPr>
        <p:spPr>
          <a:xfrm>
            <a:off x="4657446" y="1650206"/>
            <a:ext cx="5119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47954"/>
                </a:solidFill>
              </a:rPr>
              <a:t>Parquet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3512214" y="1650206"/>
            <a:ext cx="4786480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for fast, columnar processing and efficient memory management.</a:t>
            </a:r>
            <a:endParaRPr lang="en-US" sz="942" dirty="0"/>
          </a:p>
        </p:txBody>
      </p:sp>
      <p:sp>
        <p:nvSpPr>
          <p:cNvPr id="17" name="Shape 11"/>
          <p:cNvSpPr/>
          <p:nvPr/>
        </p:nvSpPr>
        <p:spPr>
          <a:xfrm>
            <a:off x="432197" y="2173486"/>
            <a:ext cx="8279606" cy="6786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3" y="2448520"/>
            <a:ext cx="112514" cy="1285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98314" y="2425303"/>
            <a:ext cx="14652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GitHub Limits (100MB)</a:t>
            </a:r>
            <a:endParaRPr lang="en-US" sz="885" dirty="0"/>
          </a:p>
        </p:txBody>
      </p:sp>
      <p:sp>
        <p:nvSpPr>
          <p:cNvPr id="20" name="Text 13"/>
          <p:cNvSpPr/>
          <p:nvPr/>
        </p:nvSpPr>
        <p:spPr>
          <a:xfrm>
            <a:off x="3330048" y="2173486"/>
            <a:ext cx="5381755" cy="678656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Split large files into parts (`.part1`, `.part2`) and stitched them automatically during the ETL pipeline execution.</a:t>
            </a:r>
            <a:endParaRPr lang="en-US" sz="942" dirty="0"/>
          </a:p>
        </p:txBody>
      </p:sp>
      <p:sp>
        <p:nvSpPr>
          <p:cNvPr id="21" name="Shape 14"/>
          <p:cNvSpPr/>
          <p:nvPr/>
        </p:nvSpPr>
        <p:spPr>
          <a:xfrm>
            <a:off x="432197" y="2852142"/>
            <a:ext cx="8279606" cy="678656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3" y="3127177"/>
            <a:ext cx="160734" cy="1285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46534" y="3103959"/>
            <a:ext cx="17441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Cloud Memory Constraints</a:t>
            </a:r>
            <a:endParaRPr lang="en-US" sz="885" dirty="0"/>
          </a:p>
        </p:txBody>
      </p:sp>
      <p:sp>
        <p:nvSpPr>
          <p:cNvPr id="24" name="Text 16"/>
          <p:cNvSpPr/>
          <p:nvPr/>
        </p:nvSpPr>
        <p:spPr>
          <a:xfrm>
            <a:off x="3512214" y="3007519"/>
            <a:ext cx="13299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Created a lightweight</a:t>
            </a:r>
            <a:endParaRPr lang="en-US" sz="942" dirty="0"/>
          </a:p>
        </p:txBody>
      </p:sp>
      <p:sp>
        <p:nvSpPr>
          <p:cNvPr id="25" name="Text 17"/>
          <p:cNvSpPr/>
          <p:nvPr/>
        </p:nvSpPr>
        <p:spPr>
          <a:xfrm>
            <a:off x="4842207" y="3007519"/>
            <a:ext cx="7373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47954"/>
                </a:solidFill>
              </a:rPr>
              <a:t>10K Sample</a:t>
            </a:r>
            <a:endParaRPr lang="en-US" sz="885" dirty="0"/>
          </a:p>
        </p:txBody>
      </p:sp>
      <p:sp>
        <p:nvSpPr>
          <p:cNvPr id="26" name="Text 18"/>
          <p:cNvSpPr/>
          <p:nvPr/>
        </p:nvSpPr>
        <p:spPr>
          <a:xfrm>
            <a:off x="3512214" y="3007519"/>
            <a:ext cx="463922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specifically optimized for the live demo on Streamlit Cloud.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92906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47954"/>
                </a:solidFill>
              </a:rPr>
              <a:t>Next Steps &amp; Project Deliverables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013520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381" y="991195"/>
            <a:ext cx="129017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Future Work</a:t>
            </a:r>
            <a:endParaRPr lang="en-US" sz="1397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603772"/>
            <a:ext cx="200025" cy="2000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35806" y="1550194"/>
            <a:ext cx="36576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Predictive Models</a:t>
            </a:r>
            <a:endParaRPr lang="en-US" sz="987" dirty="0"/>
          </a:p>
        </p:txBody>
      </p:sp>
      <p:sp>
        <p:nvSpPr>
          <p:cNvPr id="8" name="Text 3"/>
          <p:cNvSpPr/>
          <p:nvPr/>
        </p:nvSpPr>
        <p:spPr>
          <a:xfrm>
            <a:off x="735806" y="1787723"/>
            <a:ext cx="36576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Add Machine Learning algorithms to predict future student grades and performance trends.</a:t>
            </a:r>
            <a:endParaRPr lang="en-US" sz="942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358498"/>
            <a:ext cx="175022" cy="2000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10803" y="2304920"/>
            <a:ext cx="368260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Real-Time Data</a:t>
            </a:r>
            <a:endParaRPr lang="en-US" sz="987" dirty="0"/>
          </a:p>
        </p:txBody>
      </p:sp>
      <p:sp>
        <p:nvSpPr>
          <p:cNvPr id="11" name="Text 5"/>
          <p:cNvSpPr/>
          <p:nvPr/>
        </p:nvSpPr>
        <p:spPr>
          <a:xfrm>
            <a:off x="710803" y="2542449"/>
            <a:ext cx="368260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Connect to live Learning Management Systems (LMS) for real-time data synchronization.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113224"/>
            <a:ext cx="150019" cy="20002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85800" y="3059646"/>
            <a:ext cx="37076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Mobile App</a:t>
            </a:r>
            <a:endParaRPr lang="en-US" sz="987" dirty="0"/>
          </a:p>
        </p:txBody>
      </p:sp>
      <p:sp>
        <p:nvSpPr>
          <p:cNvPr id="14" name="Text 7"/>
          <p:cNvSpPr/>
          <p:nvPr/>
        </p:nvSpPr>
        <p:spPr>
          <a:xfrm>
            <a:off x="685800" y="3297175"/>
            <a:ext cx="37076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Optimize the dashboard layout and functionality for mobile devices and tablets.</a:t>
            </a:r>
            <a:endParaRPr lang="en-US" sz="942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594" y="1013520"/>
            <a:ext cx="200025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57775" y="991195"/>
            <a:ext cx="128057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Deliverables</a:t>
            </a:r>
            <a:endParaRPr lang="en-US" sz="1397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594" y="1603772"/>
            <a:ext cx="200025" cy="20002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057775" y="1550194"/>
            <a:ext cx="36576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Live Application</a:t>
            </a:r>
            <a:endParaRPr lang="en-US" sz="987" dirty="0"/>
          </a:p>
        </p:txBody>
      </p:sp>
      <p:sp>
        <p:nvSpPr>
          <p:cNvPr id="19" name="Text 10"/>
          <p:cNvSpPr/>
          <p:nvPr/>
        </p:nvSpPr>
        <p:spPr>
          <a:xfrm>
            <a:off x="5057775" y="1787723"/>
            <a:ext cx="36576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Fully functional Student Performance Dashboard deployed on Streamlit Cloud.</a:t>
            </a:r>
            <a:endParaRPr lang="en-US" sz="942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594" y="2358498"/>
            <a:ext cx="175022" cy="20002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32772" y="2304920"/>
            <a:ext cx="368260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Source Code Repository</a:t>
            </a:r>
            <a:endParaRPr lang="en-US" sz="987" dirty="0"/>
          </a:p>
        </p:txBody>
      </p:sp>
      <p:sp>
        <p:nvSpPr>
          <p:cNvPr id="22" name="Text 12"/>
          <p:cNvSpPr/>
          <p:nvPr/>
        </p:nvSpPr>
        <p:spPr>
          <a:xfrm>
            <a:off x="5032772" y="2542449"/>
            <a:ext cx="368260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Complete GitHub repository with all code, configurations, and version control history.</a:t>
            </a:r>
            <a:endParaRPr lang="en-US" sz="942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0594" y="3113224"/>
            <a:ext cx="150019" cy="200025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007769" y="3059646"/>
            <a:ext cx="37076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Technical Documentation</a:t>
            </a:r>
            <a:endParaRPr lang="en-US" sz="987" dirty="0"/>
          </a:p>
        </p:txBody>
      </p:sp>
      <p:sp>
        <p:nvSpPr>
          <p:cNvPr id="25" name="Text 14"/>
          <p:cNvSpPr/>
          <p:nvPr/>
        </p:nvSpPr>
        <p:spPr>
          <a:xfrm>
            <a:off x="5007769" y="3297175"/>
            <a:ext cx="37076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Comprehensive README, code comments, and architecture documentation for maintainability.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47774" y="806183"/>
            <a:ext cx="3248425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047954"/>
                </a:solidFill>
              </a:rPr>
              <a:t>Thank You!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858031" y="1577708"/>
            <a:ext cx="7427909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We're excited to share our Student Performance Dashboard with you.</a:t>
            </a:r>
            <a:endParaRPr lang="en-US" sz="170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916" y="2266522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48953" y="2254914"/>
            <a:ext cx="74610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Live Demo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2052879" y="2556737"/>
            <a:ext cx="50382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depi-data-project-sxczyh8wks5x4bdwjznwgw.streamlit.app</a:t>
            </a:r>
            <a:endParaRPr lang="en-US" sz="119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22" y="3590795"/>
            <a:ext cx="342900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18340" y="4099787"/>
            <a:ext cx="230729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Questions &amp; Feedback?</a:t>
            </a:r>
            <a:endParaRPr lang="en-US" sz="13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2025-11-29T15:41:33Z</dcterms:created>
  <dcterms:modified xsi:type="dcterms:W3CDTF">2025-11-29T15:41:33Z</dcterms:modified>
</cp:coreProperties>
</file>